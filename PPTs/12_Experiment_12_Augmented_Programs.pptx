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1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914400"/>
            <a:ext cx="1069848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FSD2 LAB • EXPERIMENT 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27632"/>
            <a:ext cx="10698480" cy="160020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3800" b="1">
                <a:solidFill>
                  <a:srgbClr val="1B2B4B"/>
                </a:solidFill>
                <a:latin typeface="Aptos"/>
              </a:defRPr>
            </a:pPr>
            <a:r>
              <a:t>Experiment 12 — Augmented Programs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93008"/>
            <a:ext cx="10424160" cy="5029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900" b="0">
                <a:solidFill>
                  <a:srgbClr val="666E7A"/>
                </a:solidFill>
                <a:latin typeface="Aptos"/>
              </a:defRPr>
            </a:pPr>
            <a:r>
              <a:t>Simple explanation • Clean code • Runtime pathway • Viva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06440"/>
            <a:ext cx="365760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600" b="1">
                <a:solidFill>
                  <a:srgbClr val="305D9C"/>
                </a:solidFill>
                <a:latin typeface="Aptos"/>
              </a:defRPr>
            </a:pPr>
            <a:r>
              <a:t>FSD2 Lab Materials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Syllabus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See the experiment README for the exact syllabus task.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How it works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2_work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Input → processing → data/state → output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index.html • lines 1–10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 1  &lt;!DOCTYPE html&gt;</a:t>
            </a:r>
            <a:br/>
            <a:r>
              <a:t>  2  &lt;html lang="en"&gt;</a:t>
            </a:r>
            <a:br/>
            <a:r>
              <a:t>  3    &lt;head&gt;</a:t>
            </a:r>
            <a:br/>
            <a:r>
              <a:t>  4      &lt;meta charset="UTF-8" /&gt;</a:t>
            </a:r>
            <a:br/>
            <a:r>
              <a:t>  5  </a:t>
            </a:r>
            <a:br/>
            <a:r>
              <a:t>  6      &lt;meta</a:t>
            </a:r>
            <a:br/>
            <a:r>
              <a:t>  7        name="viewport"</a:t>
            </a:r>
            <a:br/>
            <a:r>
              <a:t>  8        content="width=device-width, initial-scale=1.0"</a:t>
            </a:r>
            <a:br/>
            <a:r>
              <a:t>  9      /&gt;</a:t>
            </a:r>
            <a:br/>
            <a:r>
              <a:t> 10  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Code pathway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index.html • lines 11–20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94360" y="1298448"/>
            <a:ext cx="10972800" cy="5074920"/>
          </a:xfrm>
          <a:prstGeom prst="roundRect">
            <a:avLst/>
          </a:prstGeom>
          <a:solidFill>
            <a:srgbClr val="F8FAFC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536192"/>
            <a:ext cx="10515600" cy="461772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250" b="0">
                <a:solidFill>
                  <a:srgbClr val="23272F"/>
                </a:solidFill>
                <a:latin typeface="DejaVu Sans Mono"/>
              </a:defRPr>
            </a:pPr>
            <a:r>
              <a:t> 11      &lt;title&gt;</a:t>
            </a:r>
            <a:br/>
            <a:r>
              <a:t> 12        FSD2 React Quiz</a:t>
            </a:r>
            <a:br/>
            <a:r>
              <a:t> 13      &lt;/title&gt;</a:t>
            </a:r>
            <a:br/>
            <a:r>
              <a:t> 14    &lt;/head&gt;</a:t>
            </a:r>
            <a:br/>
            <a:r>
              <a:t> 15  </a:t>
            </a:r>
            <a:br/>
            <a:r>
              <a:t> 16    &lt;body&gt;</a:t>
            </a:r>
            <a:br/>
            <a:r>
              <a:t> 17      &lt;div id="root"&gt;&lt;/div&gt;</a:t>
            </a:r>
            <a:br/>
            <a:r>
              <a:t> 18  </a:t>
            </a:r>
            <a:br/>
            <a:r>
              <a:t> 19      &lt;script</a:t>
            </a:r>
            <a:br/>
            <a:r>
              <a:t> 20        type="module"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Runtime walkthrough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12_run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280160"/>
            <a:ext cx="10972800" cy="5074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7240" y="6437376"/>
            <a:ext cx="10607040" cy="22860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ctr">
              <a:defRPr sz="1200" b="0">
                <a:solidFill>
                  <a:srgbClr val="666E7A"/>
                </a:solidFill>
                <a:latin typeface="Aptos"/>
              </a:defRPr>
            </a:pPr>
            <a:r>
              <a:t>Start → enter input → execute → observe output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Expected result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874519" y="356616"/>
            <a:ext cx="9326880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300" b="0">
                <a:solidFill>
                  <a:srgbClr val="666E7A"/>
                </a:solidFill>
                <a:latin typeface="Aptos"/>
              </a:defRPr>
            </a:pPr>
            <a:r>
              <a:t>Experiment 12 — Augmented Programs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305D9C"/>
                </a:solidFill>
                <a:latin typeface="Aptos"/>
              </a:defRPr>
            </a:pPr>
            <a:r>
              <a:t>INPUT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Enter the sample values or open the required page / route.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36007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2A7A59"/>
                </a:solidFill>
                <a:latin typeface="Aptos"/>
              </a:defRPr>
            </a:pPr>
            <a:r>
              <a:t>PROCESS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7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The Express route, React component, hook, or MongoDB command performs the task.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83879" y="1417320"/>
            <a:ext cx="3337560" cy="1920240"/>
          </a:xfrm>
          <a:prstGeom prst="roundRect">
            <a:avLst/>
          </a:prstGeom>
          <a:solidFill>
            <a:srgbClr val="F4F6F9"/>
          </a:solidFill>
          <a:ln>
            <a:solidFill>
              <a:srgbClr val="DCE1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85048" y="1581912"/>
            <a:ext cx="2935224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1">
                <a:solidFill>
                  <a:srgbClr val="D67E2D"/>
                </a:solidFill>
                <a:latin typeface="Aptos"/>
              </a:defRPr>
            </a:pPr>
            <a:r>
              <a:t>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5048" y="2039112"/>
            <a:ext cx="2935224" cy="111556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550" b="0">
                <a:solidFill>
                  <a:srgbClr val="23272F"/>
                </a:solidFill>
                <a:latin typeface="Aptos"/>
              </a:defRPr>
            </a:pPr>
            <a:r>
              <a:t>Check the browser, terminal, API response, or database result.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3657600" cy="41148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1B2B4B"/>
                </a:solidFill>
                <a:latin typeface="Aptos"/>
              </a:defRPr>
            </a:pPr>
            <a:r>
              <a:t>Verification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7083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36168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No syntax errors appear in the terminal.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501091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500176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requested feature responds to the input.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5650992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5641848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700" b="0">
                <a:solidFill>
                  <a:srgbClr val="23272F"/>
                </a:solidFill>
                <a:latin typeface="Aptos"/>
              </a:defRPr>
            </a:pPr>
            <a:r>
              <a:t>The displayed / returned value matches the operation.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274320"/>
            <a:ext cx="10927080" cy="621792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spAutoFit/>
          </a:bodyPr>
          <a:lstStyle/>
          <a:p>
            <a:pPr algn="l">
              <a:defRPr sz="2700" b="1">
                <a:solidFill>
                  <a:srgbClr val="1B2B4B"/>
                </a:solidFill>
                <a:latin typeface="Aptos"/>
              </a:defRPr>
            </a:pPr>
            <a:r>
              <a:t>Viva preparation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" y="950976"/>
            <a:ext cx="1143000" cy="54864"/>
          </a:xfrm>
          <a:prstGeom prst="rect">
            <a:avLst/>
          </a:prstGeom>
          <a:solidFill>
            <a:srgbClr val="305D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1732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" y="140817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is the purpose of this experiment?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05740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4825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input is required?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69748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" y="268833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Which line or command performs the main operation?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33756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332841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output should you observe?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977640"/>
            <a:ext cx="292608" cy="365760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2200" b="1">
                <a:solidFill>
                  <a:srgbClr val="305D9C"/>
                </a:solidFill>
                <a:latin typeface="Aptos"/>
              </a:defRPr>
            </a:pPr>
            <a: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3968496"/>
            <a:ext cx="10241280" cy="384048"/>
          </a:xfrm>
          <a:prstGeom prst="rect">
            <a:avLst/>
          </a:prstGeom>
          <a:noFill/>
        </p:spPr>
        <p:txBody>
          <a:bodyPr wrap="square" lIns="45720" rIns="45720" tIns="27432" bIns="27432" anchor="t">
            <a:spAutoFit/>
          </a:bodyPr>
          <a:lstStyle/>
          <a:p>
            <a:pPr algn="l">
              <a:defRPr sz="1800" b="0">
                <a:solidFill>
                  <a:srgbClr val="23272F"/>
                </a:solidFill>
                <a:latin typeface="Aptos"/>
              </a:defRPr>
            </a:pPr>
            <a:r>
              <a:t>What happens when the input changes?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