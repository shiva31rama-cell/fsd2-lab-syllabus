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F1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1">
                <a:solidFill>
                  <a:srgbClr val="305D9C"/>
                </a:solidFill>
                <a:latin typeface="Aptos"/>
              </a:defRPr>
            </a:pPr>
            <a:r>
              <a:t>FSD2 LAB • EXPERIMENT 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27632"/>
            <a:ext cx="10698480" cy="1600200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defRPr sz="3800" b="1">
                <a:solidFill>
                  <a:srgbClr val="1B2B4B"/>
                </a:solidFill>
                <a:latin typeface="Aptos"/>
              </a:defRPr>
            </a:pPr>
            <a:r>
              <a:t>Experiment 06 — React Props, State, Styles and Events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93008"/>
            <a:ext cx="10424160" cy="5029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900" b="0">
                <a:solidFill>
                  <a:srgbClr val="666E7A"/>
                </a:solidFill>
                <a:latin typeface="Aptos"/>
              </a:defRPr>
            </a:pPr>
            <a:r>
              <a:t>Simple explanation • Clean code • Runtime pathway • Viva preparation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806440"/>
            <a:ext cx="365760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600" b="1">
                <a:solidFill>
                  <a:srgbClr val="305D9C"/>
                </a:solidFill>
                <a:latin typeface="Aptos"/>
              </a:defRPr>
            </a:pPr>
            <a:r>
              <a:t>FSD2 Lab Materials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27080" cy="62179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defRPr sz="2700" b="1">
                <a:solidFill>
                  <a:srgbClr val="1B2B4B"/>
                </a:solidFill>
                <a:latin typeface="Aptos"/>
              </a:defRPr>
            </a:pPr>
            <a:r>
              <a:t>Syllabus tasks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50976"/>
            <a:ext cx="1143000" cy="54864"/>
          </a:xfrm>
          <a:prstGeom prst="rect">
            <a:avLst/>
          </a:prstGeom>
          <a:solidFill>
            <a:srgbClr val="305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29260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305D9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" y="1408176"/>
            <a:ext cx="1024128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0">
                <a:solidFill>
                  <a:srgbClr val="23272F"/>
                </a:solidFill>
                <a:latin typeface="Aptos"/>
              </a:defRPr>
            </a:pPr>
            <a:r>
              <a:t>**Increment:** add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057400"/>
            <a:ext cx="29260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305D9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" y="2048256"/>
            <a:ext cx="1024128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0">
                <a:solidFill>
                  <a:srgbClr val="23272F"/>
                </a:solidFill>
                <a:latin typeface="Aptos"/>
              </a:defRPr>
            </a:pPr>
            <a:r>
              <a:t>**Decrement:** subtract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697480"/>
            <a:ext cx="29260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305D9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2688336"/>
            <a:ext cx="1024128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0">
                <a:solidFill>
                  <a:srgbClr val="23272F"/>
                </a:solidFill>
                <a:latin typeface="Aptos"/>
              </a:defRPr>
            </a:pPr>
            <a:r>
              <a:t>**Reset:** return to zero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27080" cy="62179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defRPr sz="2700" b="1">
                <a:solidFill>
                  <a:srgbClr val="1B2B4B"/>
                </a:solidFill>
                <a:latin typeface="Aptos"/>
              </a:defRPr>
            </a:pPr>
            <a:r>
              <a:t>How it works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50976"/>
            <a:ext cx="1143000" cy="54864"/>
          </a:xfrm>
          <a:prstGeom prst="rect">
            <a:avLst/>
          </a:prstGeom>
          <a:solidFill>
            <a:srgbClr val="305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06_work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280160"/>
            <a:ext cx="10972800" cy="5074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6437376"/>
            <a:ext cx="1060704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defRPr sz="1200" b="0">
                <a:solidFill>
                  <a:srgbClr val="666E7A"/>
                </a:solidFill>
                <a:latin typeface="Aptos"/>
              </a:defRPr>
            </a:pPr>
            <a:r>
              <a:t>Input → processing → data/state → output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27080" cy="62179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defRPr sz="2700" b="1">
                <a:solidFill>
                  <a:srgbClr val="1B2B4B"/>
                </a:solidFill>
                <a:latin typeface="Aptos"/>
              </a:defRPr>
            </a:pPr>
            <a:r>
              <a:t>Code pathway 1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50976"/>
            <a:ext cx="1143000" cy="54864"/>
          </a:xfrm>
          <a:prstGeom prst="rect">
            <a:avLst/>
          </a:prstGeom>
          <a:solidFill>
            <a:srgbClr val="305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74519" y="356616"/>
            <a:ext cx="932688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300" b="0">
                <a:solidFill>
                  <a:srgbClr val="666E7A"/>
                </a:solidFill>
                <a:latin typeface="Aptos"/>
              </a:defRPr>
            </a:pPr>
            <a:r>
              <a:t>index.html • lines 1–10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298448"/>
            <a:ext cx="10972800" cy="5074920"/>
          </a:xfrm>
          <a:prstGeom prst="roundRect">
            <a:avLst/>
          </a:prstGeom>
          <a:solidFill>
            <a:srgbClr val="F8FAFC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536192"/>
            <a:ext cx="10515600" cy="46177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250" b="0">
                <a:solidFill>
                  <a:srgbClr val="23272F"/>
                </a:solidFill>
                <a:latin typeface="DejaVu Sans Mono"/>
              </a:defRPr>
            </a:pPr>
            <a:r>
              <a:t>  1  &lt;!DOCTYPE html&gt;</a:t>
            </a:r>
            <a:br/>
            <a:r>
              <a:t>  2  &lt;html lang="en"&gt;</a:t>
            </a:r>
            <a:br/>
            <a:r>
              <a:t>  3    &lt;head&gt;</a:t>
            </a:r>
            <a:br/>
            <a:r>
              <a:t>  4      &lt;meta charset="UTF-8" /&gt;</a:t>
            </a:r>
            <a:br/>
            <a:r>
              <a:t>  5  </a:t>
            </a:r>
            <a:br/>
            <a:r>
              <a:t>  6      &lt;meta</a:t>
            </a:r>
            <a:br/>
            <a:r>
              <a:t>  7        name="viewport"</a:t>
            </a:r>
            <a:br/>
            <a:r>
              <a:t>  8        content="width=device-width, initial-scale=1.0"</a:t>
            </a:r>
            <a:br/>
            <a:r>
              <a:t>  9      /&gt;</a:t>
            </a:r>
            <a:br/>
            <a:r>
              <a:t> 10 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27080" cy="62179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defRPr sz="2700" b="1">
                <a:solidFill>
                  <a:srgbClr val="1B2B4B"/>
                </a:solidFill>
                <a:latin typeface="Aptos"/>
              </a:defRPr>
            </a:pPr>
            <a:r>
              <a:t>Code pathway 2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50976"/>
            <a:ext cx="1143000" cy="54864"/>
          </a:xfrm>
          <a:prstGeom prst="rect">
            <a:avLst/>
          </a:prstGeom>
          <a:solidFill>
            <a:srgbClr val="305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74519" y="356616"/>
            <a:ext cx="932688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300" b="0">
                <a:solidFill>
                  <a:srgbClr val="666E7A"/>
                </a:solidFill>
                <a:latin typeface="Aptos"/>
              </a:defRPr>
            </a:pPr>
            <a:r>
              <a:t>index.html • lines 11–20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298448"/>
            <a:ext cx="10972800" cy="5074920"/>
          </a:xfrm>
          <a:prstGeom prst="roundRect">
            <a:avLst/>
          </a:prstGeom>
          <a:solidFill>
            <a:srgbClr val="F8FAFC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536192"/>
            <a:ext cx="10515600" cy="461772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250" b="0">
                <a:solidFill>
                  <a:srgbClr val="23272F"/>
                </a:solidFill>
                <a:latin typeface="DejaVu Sans Mono"/>
              </a:defRPr>
            </a:pPr>
            <a:r>
              <a:t> 11      &lt;title&gt;</a:t>
            </a:r>
            <a:br/>
            <a:r>
              <a:t> 12        FSD2 React Experiment 06</a:t>
            </a:r>
            <a:br/>
            <a:r>
              <a:t> 13      &lt;/title&gt;</a:t>
            </a:r>
            <a:br/>
            <a:r>
              <a:t> 14    &lt;/head&gt;</a:t>
            </a:r>
            <a:br/>
            <a:r>
              <a:t> 15  </a:t>
            </a:r>
            <a:br/>
            <a:r>
              <a:t> 16    &lt;body&gt;</a:t>
            </a:r>
            <a:br/>
            <a:r>
              <a:t> 17      &lt;div id="root"&gt;&lt;/div&gt;</a:t>
            </a:r>
            <a:br/>
            <a:r>
              <a:t> 18  </a:t>
            </a:r>
            <a:br/>
            <a:r>
              <a:t> 19      &lt;script</a:t>
            </a:r>
            <a:br/>
            <a:r>
              <a:t> 20        type="module"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27080" cy="62179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defRPr sz="2700" b="1">
                <a:solidFill>
                  <a:srgbClr val="1B2B4B"/>
                </a:solidFill>
                <a:latin typeface="Aptos"/>
              </a:defRPr>
            </a:pPr>
            <a:r>
              <a:t>Runtime walkthrough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50976"/>
            <a:ext cx="1143000" cy="54864"/>
          </a:xfrm>
          <a:prstGeom prst="rect">
            <a:avLst/>
          </a:prstGeom>
          <a:solidFill>
            <a:srgbClr val="305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06_runti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" y="1280160"/>
            <a:ext cx="10972800" cy="50749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" y="6437376"/>
            <a:ext cx="10607040" cy="22860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ctr">
              <a:defRPr sz="1200" b="0">
                <a:solidFill>
                  <a:srgbClr val="666E7A"/>
                </a:solidFill>
                <a:latin typeface="Aptos"/>
              </a:defRPr>
            </a:pPr>
            <a:r>
              <a:t>Start → enter input → execute → observe output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27080" cy="62179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defRPr sz="2700" b="1">
                <a:solidFill>
                  <a:srgbClr val="1B2B4B"/>
                </a:solidFill>
                <a:latin typeface="Aptos"/>
              </a:defRPr>
            </a:pPr>
            <a:r>
              <a:t>Expected result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50976"/>
            <a:ext cx="1143000" cy="54864"/>
          </a:xfrm>
          <a:prstGeom prst="rect">
            <a:avLst/>
          </a:prstGeom>
          <a:solidFill>
            <a:srgbClr val="305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874519" y="356616"/>
            <a:ext cx="9326880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300" b="0">
                <a:solidFill>
                  <a:srgbClr val="666E7A"/>
                </a:solidFill>
                <a:latin typeface="Aptos"/>
              </a:defRPr>
            </a:pPr>
            <a:r>
              <a:t>Experiment 06 — React Props, State, Styles and Events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417320"/>
            <a:ext cx="3337560" cy="1920240"/>
          </a:xfrm>
          <a:prstGeom prst="roundRect">
            <a:avLst/>
          </a:prstGeom>
          <a:solidFill>
            <a:srgbClr val="F4F6F9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1581912"/>
            <a:ext cx="2935224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1">
                <a:solidFill>
                  <a:srgbClr val="305D9C"/>
                </a:solidFill>
                <a:latin typeface="Aptos"/>
              </a:defRPr>
            </a:pPr>
            <a:r>
              <a:t>INPUT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039112"/>
            <a:ext cx="2935224" cy="11155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550" b="0">
                <a:solidFill>
                  <a:srgbClr val="23272F"/>
                </a:solidFill>
                <a:latin typeface="Aptos"/>
              </a:defRPr>
            </a:pPr>
            <a:r>
              <a:t>Enter the sample values or open the required page / route.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34840" y="1417320"/>
            <a:ext cx="3337560" cy="1920240"/>
          </a:xfrm>
          <a:prstGeom prst="roundRect">
            <a:avLst/>
          </a:prstGeom>
          <a:solidFill>
            <a:srgbClr val="F4F6F9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36007" y="1581912"/>
            <a:ext cx="2935224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1">
                <a:solidFill>
                  <a:srgbClr val="2A7A59"/>
                </a:solidFill>
                <a:latin typeface="Aptos"/>
              </a:defRPr>
            </a:pPr>
            <a:r>
              <a:t>PROCESS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36007" y="2039112"/>
            <a:ext cx="2935224" cy="11155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550" b="0">
                <a:solidFill>
                  <a:srgbClr val="23272F"/>
                </a:solidFill>
                <a:latin typeface="Aptos"/>
              </a:defRPr>
            </a:pPr>
            <a:r>
              <a:t>The Express route, React component, hook, or MongoDB command performs the task.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79" y="1417320"/>
            <a:ext cx="3337560" cy="1920240"/>
          </a:xfrm>
          <a:prstGeom prst="roundRect">
            <a:avLst/>
          </a:prstGeom>
          <a:solidFill>
            <a:srgbClr val="F4F6F9"/>
          </a:solidFill>
          <a:ln>
            <a:solidFill>
              <a:srgbClr val="DCE1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85048" y="1581912"/>
            <a:ext cx="2935224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1">
                <a:solidFill>
                  <a:srgbClr val="D67E2D"/>
                </a:solidFill>
                <a:latin typeface="Aptos"/>
              </a:defRPr>
            </a:pPr>
            <a:r>
              <a:t>OUTPUT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85048" y="2039112"/>
            <a:ext cx="2935224" cy="111556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550" b="0">
                <a:solidFill>
                  <a:srgbClr val="23272F"/>
                </a:solidFill>
                <a:latin typeface="Aptos"/>
              </a:defRPr>
            </a:pPr>
            <a:r>
              <a:t>Check the browser, terminal, API response, or database result.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794760"/>
            <a:ext cx="3657600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1B2B4B"/>
                </a:solidFill>
                <a:latin typeface="Aptos"/>
              </a:defRPr>
            </a:pPr>
            <a:r>
              <a:t>Verification checklist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370832"/>
            <a:ext cx="29260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305D9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15568" y="4361688"/>
            <a:ext cx="1024128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700" b="0">
                <a:solidFill>
                  <a:srgbClr val="23272F"/>
                </a:solidFill>
                <a:latin typeface="Aptos"/>
              </a:defRPr>
            </a:pPr>
            <a:r>
              <a:t>No syntax errors appear in the terminal.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010912"/>
            <a:ext cx="29260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305D9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15568" y="5001768"/>
            <a:ext cx="1024128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700" b="0">
                <a:solidFill>
                  <a:srgbClr val="23272F"/>
                </a:solidFill>
                <a:latin typeface="Aptos"/>
              </a:defRPr>
            </a:pPr>
            <a:r>
              <a:t>The requested feature responds to the input.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650992"/>
            <a:ext cx="29260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305D9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5568" y="5641848"/>
            <a:ext cx="1024128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700" b="0">
                <a:solidFill>
                  <a:srgbClr val="23272F"/>
                </a:solidFill>
                <a:latin typeface="Aptos"/>
              </a:defRPr>
            </a:pPr>
            <a:r>
              <a:t>The displayed / returned value matches the operation.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27080" cy="621792"/>
          </a:xfrm>
          <a:prstGeom prst="rect">
            <a:avLst/>
          </a:prstGeom>
          <a:noFill/>
        </p:spPr>
        <p:txBody>
          <a:bodyPr wrap="square" lIns="45720" rIns="45720" tIns="27432" bIns="27432" anchor="ctr">
            <a:spAutoFit/>
          </a:bodyPr>
          <a:lstStyle/>
          <a:p>
            <a:pPr algn="l">
              <a:defRPr sz="2700" b="1">
                <a:solidFill>
                  <a:srgbClr val="1B2B4B"/>
                </a:solidFill>
                <a:latin typeface="Aptos"/>
              </a:defRPr>
            </a:pPr>
            <a:r>
              <a:t>Viva preparation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950976"/>
            <a:ext cx="1143000" cy="54864"/>
          </a:xfrm>
          <a:prstGeom prst="rect">
            <a:avLst/>
          </a:prstGeom>
          <a:solidFill>
            <a:srgbClr val="305D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417320"/>
            <a:ext cx="29260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305D9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" y="1408176"/>
            <a:ext cx="1024128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0">
                <a:solidFill>
                  <a:srgbClr val="23272F"/>
                </a:solidFill>
                <a:latin typeface="Aptos"/>
              </a:defRPr>
            </a:pPr>
            <a:r>
              <a:t>What is the purpose of this experiment?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057400"/>
            <a:ext cx="29260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305D9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" y="2048256"/>
            <a:ext cx="1024128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0">
                <a:solidFill>
                  <a:srgbClr val="23272F"/>
                </a:solidFill>
                <a:latin typeface="Aptos"/>
              </a:defRPr>
            </a:pPr>
            <a:r>
              <a:t>Which input is required?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697480"/>
            <a:ext cx="29260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305D9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15568" y="2688336"/>
            <a:ext cx="1024128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0">
                <a:solidFill>
                  <a:srgbClr val="23272F"/>
                </a:solidFill>
                <a:latin typeface="Aptos"/>
              </a:defRPr>
            </a:pPr>
            <a:r>
              <a:t>Which line or command performs the main operation?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337560"/>
            <a:ext cx="29260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305D9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15568" y="3328416"/>
            <a:ext cx="1024128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0">
                <a:solidFill>
                  <a:srgbClr val="23272F"/>
                </a:solidFill>
                <a:latin typeface="Aptos"/>
              </a:defRPr>
            </a:pPr>
            <a:r>
              <a:t>What output should you observe?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977640"/>
            <a:ext cx="292608" cy="365760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2200" b="1">
                <a:solidFill>
                  <a:srgbClr val="305D9C"/>
                </a:solidFill>
                <a:latin typeface="Aptos"/>
              </a:defRPr>
            </a:pPr>
            <a:r>
              <a:t>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5568" y="3968496"/>
            <a:ext cx="10241280" cy="384048"/>
          </a:xfrm>
          <a:prstGeom prst="rect">
            <a:avLst/>
          </a:prstGeom>
          <a:noFill/>
        </p:spPr>
        <p:txBody>
          <a:bodyPr wrap="square" lIns="45720" rIns="45720" tIns="27432" bIns="27432" anchor="t">
            <a:spAutoFit/>
          </a:bodyPr>
          <a:lstStyle/>
          <a:p>
            <a:pPr algn="l">
              <a:defRPr sz="1800" b="0">
                <a:solidFill>
                  <a:srgbClr val="23272F"/>
                </a:solidFill>
                <a:latin typeface="Aptos"/>
              </a:defRPr>
            </a:pPr>
            <a:r>
              <a:t>What happens when the input changes?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