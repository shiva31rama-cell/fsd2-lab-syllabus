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8F1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914400"/>
            <a:ext cx="10698480" cy="4114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1800" b="1">
                <a:solidFill>
                  <a:srgbClr val="305D9C"/>
                </a:solidFill>
                <a:latin typeface="Aptos"/>
              </a:defRPr>
            </a:pPr>
            <a:r>
              <a:t>FSD2 LAB • EXPERIMENT 09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27632"/>
            <a:ext cx="10698480" cy="160020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defRPr sz="3800" b="1">
                <a:solidFill>
                  <a:srgbClr val="1B2B4B"/>
                </a:solidFill>
                <a:latin typeface="Aptos"/>
              </a:defRPr>
            </a:pPr>
            <a:r>
              <a:t>ReactJS Hooks and Sharing Data Between Components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493008"/>
            <a:ext cx="10424160" cy="5029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1900" b="0">
                <a:solidFill>
                  <a:srgbClr val="666E7A"/>
                </a:solidFill>
                <a:latin typeface="Aptos"/>
              </a:defRPr>
            </a:pPr>
            <a:r>
              <a:t>Simple explanation • Clean code • Runtime pathway • Viva preparation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806440"/>
            <a:ext cx="3657600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1600" b="1">
                <a:solidFill>
                  <a:srgbClr val="305D9C"/>
                </a:solidFill>
                <a:latin typeface="Aptos"/>
              </a:defRPr>
            </a:pPr>
            <a:r>
              <a:t>FSD2 Lab Materials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274320"/>
            <a:ext cx="10927080" cy="621792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defRPr sz="2700" b="1">
                <a:solidFill>
                  <a:srgbClr val="1B2B4B"/>
                </a:solidFill>
                <a:latin typeface="Aptos"/>
              </a:defRPr>
            </a:pPr>
            <a:r>
              <a:t>Syllabus tasks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950976"/>
            <a:ext cx="1143000" cy="54864"/>
          </a:xfrm>
          <a:prstGeom prst="rect">
            <a:avLst/>
          </a:prstGeom>
          <a:solidFill>
            <a:srgbClr val="305D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417320"/>
            <a:ext cx="292608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2200" b="1">
                <a:solidFill>
                  <a:srgbClr val="305D9C"/>
                </a:solidFill>
                <a:latin typeface="Aptos"/>
              </a:defRPr>
            </a:pPr>
            <a:r>
              <a:t>•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" y="1408176"/>
            <a:ext cx="10241280" cy="384048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1800" b="0">
                <a:solidFill>
                  <a:srgbClr val="23272F"/>
                </a:solidFill>
                <a:latin typeface="Aptos"/>
              </a:defRPr>
            </a:pPr>
            <a:r>
              <a:t>Understand the importance of using hooks.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2057400"/>
            <a:ext cx="292608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2200" b="1">
                <a:solidFill>
                  <a:srgbClr val="305D9C"/>
                </a:solidFill>
                <a:latin typeface="Aptos"/>
              </a:defRPr>
            </a:pPr>
            <a:r>
              <a:t>•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5568" y="2048256"/>
            <a:ext cx="10241280" cy="384048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1800" b="0">
                <a:solidFill>
                  <a:srgbClr val="23272F"/>
                </a:solidFill>
                <a:latin typeface="Aptos"/>
              </a:defRPr>
            </a:pPr>
            <a:r>
              <a:t>Share data between components.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274320"/>
            <a:ext cx="10927080" cy="621792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defRPr sz="2700" b="1">
                <a:solidFill>
                  <a:srgbClr val="1B2B4B"/>
                </a:solidFill>
                <a:latin typeface="Aptos"/>
              </a:defRPr>
            </a:pPr>
            <a:r>
              <a:t>How it works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950976"/>
            <a:ext cx="1143000" cy="54864"/>
          </a:xfrm>
          <a:prstGeom prst="rect">
            <a:avLst/>
          </a:prstGeom>
          <a:solidFill>
            <a:srgbClr val="305D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09_workflo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1280160"/>
            <a:ext cx="10972800" cy="507492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77240" y="6437376"/>
            <a:ext cx="10607040" cy="2286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>
              <a:defRPr sz="1200" b="0">
                <a:solidFill>
                  <a:srgbClr val="666E7A"/>
                </a:solidFill>
                <a:latin typeface="Aptos"/>
              </a:defRPr>
            </a:pPr>
            <a:r>
              <a:t>Input → processing → data/state → output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274320"/>
            <a:ext cx="10927080" cy="621792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defRPr sz="2700" b="1">
                <a:solidFill>
                  <a:srgbClr val="1B2B4B"/>
                </a:solidFill>
                <a:latin typeface="Aptos"/>
              </a:defRPr>
            </a:pPr>
            <a:r>
              <a:t>Code pathway 1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950976"/>
            <a:ext cx="1143000" cy="54864"/>
          </a:xfrm>
          <a:prstGeom prst="rect">
            <a:avLst/>
          </a:prstGeom>
          <a:solidFill>
            <a:srgbClr val="305D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874519" y="356616"/>
            <a:ext cx="9326880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1300" b="0">
                <a:solidFill>
                  <a:srgbClr val="666E7A"/>
                </a:solidFill>
                <a:latin typeface="Aptos"/>
              </a:defRPr>
            </a:pPr>
            <a:r>
              <a:t>index.html • lines 1–1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1298448"/>
            <a:ext cx="10972800" cy="5074920"/>
          </a:xfrm>
          <a:prstGeom prst="roundRect">
            <a:avLst/>
          </a:prstGeom>
          <a:solidFill>
            <a:srgbClr val="F8FAFC"/>
          </a:solidFill>
          <a:ln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536192"/>
            <a:ext cx="10515600" cy="46177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1250" b="0">
                <a:solidFill>
                  <a:srgbClr val="23272F"/>
                </a:solidFill>
                <a:latin typeface="DejaVu Sans Mono"/>
              </a:defRPr>
            </a:pPr>
            <a:r>
              <a:t>  1  &lt;!doctype html&gt;&lt;html&gt;&lt;head&gt;&lt;meta charset="UTF-8"&gt;&lt;meta name="viewport"</a:t>
            </a:r>
            <a:br/>
            <a:r>
              <a:t>         content="width=device-width,initial-scale=1"&gt;&lt;title&gt;FSD2 React Experiment</a:t>
            </a:r>
            <a:br/>
            <a:r>
              <a:t>         09&lt;/title&gt;&lt;/head&gt;&lt;body&gt;&lt;div id="root"&gt;&lt;/div&gt;&lt;script type="module"</a:t>
            </a:r>
            <a:br/>
            <a:r>
              <a:t>         src="/src/main.jsx"&gt;&lt;/script&gt;&lt;/body&gt;&lt;/html&gt;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274320"/>
            <a:ext cx="10927080" cy="621792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defRPr sz="2700" b="1">
                <a:solidFill>
                  <a:srgbClr val="1B2B4B"/>
                </a:solidFill>
                <a:latin typeface="Aptos"/>
              </a:defRPr>
            </a:pPr>
            <a:r>
              <a:t>Code pathway 2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950976"/>
            <a:ext cx="1143000" cy="54864"/>
          </a:xfrm>
          <a:prstGeom prst="rect">
            <a:avLst/>
          </a:prstGeom>
          <a:solidFill>
            <a:srgbClr val="305D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874519" y="356616"/>
            <a:ext cx="9326880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1300" b="0">
                <a:solidFill>
                  <a:srgbClr val="666E7A"/>
                </a:solidFill>
                <a:latin typeface="Aptos"/>
              </a:defRPr>
            </a:pPr>
            <a:r>
              <a:t>main.jsx • lines 1–10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1298448"/>
            <a:ext cx="10972800" cy="5074920"/>
          </a:xfrm>
          <a:prstGeom prst="roundRect">
            <a:avLst/>
          </a:prstGeom>
          <a:solidFill>
            <a:srgbClr val="F8FAFC"/>
          </a:solidFill>
          <a:ln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536192"/>
            <a:ext cx="10515600" cy="46177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1250" b="0">
                <a:solidFill>
                  <a:srgbClr val="23272F"/>
                </a:solidFill>
                <a:latin typeface="DejaVu Sans Mono"/>
              </a:defRPr>
            </a:pPr>
            <a:r>
              <a:t>  1  import React, { createContext, useContext, useEffect, useState } from 'react';</a:t>
            </a:r>
            <a:br/>
            <a:r>
              <a:t>  2  import { createRoot } from 'react-dom/client';</a:t>
            </a:r>
            <a:br/>
            <a:r>
              <a:t>  3  </a:t>
            </a:r>
            <a:br/>
            <a:r>
              <a:t>  4  const NameContext = createContext('Guest');</a:t>
            </a:r>
            <a:br/>
            <a:r>
              <a:t>  5  </a:t>
            </a:r>
            <a:br/>
            <a:r>
              <a:t>  6  function Child() {</a:t>
            </a:r>
            <a:br/>
            <a:r>
              <a:t>  7    const name = useContext(NameContext); // Read shared data without prop drilling.</a:t>
            </a:r>
            <a:br/>
            <a:r>
              <a:t>  8    return &lt;p&gt;Child component received shared name: &lt;b&gt;{name}&lt;/b&gt;&lt;/p&gt;;</a:t>
            </a:r>
            <a:br/>
            <a:r>
              <a:t>  9  }</a:t>
            </a:r>
            <a:br/>
            <a:r>
              <a:t> 10  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274320"/>
            <a:ext cx="10927080" cy="621792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defRPr sz="2700" b="1">
                <a:solidFill>
                  <a:srgbClr val="1B2B4B"/>
                </a:solidFill>
                <a:latin typeface="Aptos"/>
              </a:defRPr>
            </a:pPr>
            <a:r>
              <a:t>Runtime walkthrough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950976"/>
            <a:ext cx="1143000" cy="54864"/>
          </a:xfrm>
          <a:prstGeom prst="rect">
            <a:avLst/>
          </a:prstGeom>
          <a:solidFill>
            <a:srgbClr val="305D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09_runtim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1280160"/>
            <a:ext cx="10972800" cy="507492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77240" y="6437376"/>
            <a:ext cx="10607040" cy="2286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>
              <a:defRPr sz="1200" b="0">
                <a:solidFill>
                  <a:srgbClr val="666E7A"/>
                </a:solidFill>
                <a:latin typeface="Aptos"/>
              </a:defRPr>
            </a:pPr>
            <a:r>
              <a:t>Start → enter input → execute → observe output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274320"/>
            <a:ext cx="10927080" cy="621792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defRPr sz="2700" b="1">
                <a:solidFill>
                  <a:srgbClr val="1B2B4B"/>
                </a:solidFill>
                <a:latin typeface="Aptos"/>
              </a:defRPr>
            </a:pPr>
            <a:r>
              <a:t>Expected result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950976"/>
            <a:ext cx="1143000" cy="54864"/>
          </a:xfrm>
          <a:prstGeom prst="rect">
            <a:avLst/>
          </a:prstGeom>
          <a:solidFill>
            <a:srgbClr val="305D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874519" y="356616"/>
            <a:ext cx="9326880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1300" b="0">
                <a:solidFill>
                  <a:srgbClr val="666E7A"/>
                </a:solidFill>
                <a:latin typeface="Aptos"/>
              </a:defRPr>
            </a:pPr>
            <a:r>
              <a:t>ReactJS Hooks and Sharing Data Between Components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417320"/>
            <a:ext cx="3337560" cy="1920240"/>
          </a:xfrm>
          <a:prstGeom prst="roundRect">
            <a:avLst/>
          </a:prstGeom>
          <a:solidFill>
            <a:srgbClr val="F4F6F9"/>
          </a:solidFill>
          <a:ln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86968" y="1581912"/>
            <a:ext cx="2935224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1800" b="1">
                <a:solidFill>
                  <a:srgbClr val="305D9C"/>
                </a:solidFill>
                <a:latin typeface="Aptos"/>
              </a:defRPr>
            </a:pPr>
            <a:r>
              <a:t>INPUT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86968" y="2039112"/>
            <a:ext cx="2935224" cy="1115568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1550" b="0">
                <a:solidFill>
                  <a:srgbClr val="23272F"/>
                </a:solidFill>
                <a:latin typeface="Aptos"/>
              </a:defRPr>
            </a:pPr>
            <a:r>
              <a:t>Enter the sample values or open the required page / route.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34840" y="1417320"/>
            <a:ext cx="3337560" cy="1920240"/>
          </a:xfrm>
          <a:prstGeom prst="roundRect">
            <a:avLst/>
          </a:prstGeom>
          <a:solidFill>
            <a:srgbClr val="F4F6F9"/>
          </a:solidFill>
          <a:ln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36007" y="1581912"/>
            <a:ext cx="2935224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1800" b="1">
                <a:solidFill>
                  <a:srgbClr val="2A7A59"/>
                </a:solidFill>
                <a:latin typeface="Aptos"/>
              </a:defRPr>
            </a:pPr>
            <a:r>
              <a:t>PROCESS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36007" y="2039112"/>
            <a:ext cx="2935224" cy="1115568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1550" b="0">
                <a:solidFill>
                  <a:srgbClr val="23272F"/>
                </a:solidFill>
                <a:latin typeface="Aptos"/>
              </a:defRPr>
            </a:pPr>
            <a:r>
              <a:t>The Express route, React component, hook, or MongoDB command performs the task.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183879" y="1417320"/>
            <a:ext cx="3337560" cy="1920240"/>
          </a:xfrm>
          <a:prstGeom prst="roundRect">
            <a:avLst/>
          </a:prstGeom>
          <a:solidFill>
            <a:srgbClr val="F4F6F9"/>
          </a:solidFill>
          <a:ln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385048" y="1581912"/>
            <a:ext cx="2935224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1800" b="1">
                <a:solidFill>
                  <a:srgbClr val="D67E2D"/>
                </a:solidFill>
                <a:latin typeface="Aptos"/>
              </a:defRPr>
            </a:pPr>
            <a:r>
              <a:t>OUTPUT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85048" y="2039112"/>
            <a:ext cx="2935224" cy="1115568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1550" b="0">
                <a:solidFill>
                  <a:srgbClr val="23272F"/>
                </a:solidFill>
                <a:latin typeface="Aptos"/>
              </a:defRPr>
            </a:pPr>
            <a:r>
              <a:t>Check the browser, terminal, API response, or database result.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3794760"/>
            <a:ext cx="3657600" cy="4114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2200" b="1">
                <a:solidFill>
                  <a:srgbClr val="1B2B4B"/>
                </a:solidFill>
                <a:latin typeface="Aptos"/>
              </a:defRPr>
            </a:pPr>
            <a:r>
              <a:t>Verification checklist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" y="4370832"/>
            <a:ext cx="292608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2200" b="1">
                <a:solidFill>
                  <a:srgbClr val="305D9C"/>
                </a:solidFill>
                <a:latin typeface="Aptos"/>
              </a:defRPr>
            </a:pPr>
            <a:r>
              <a:t>•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15568" y="4361688"/>
            <a:ext cx="10241280" cy="384048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1700" b="0">
                <a:solidFill>
                  <a:srgbClr val="23272F"/>
                </a:solidFill>
                <a:latin typeface="Aptos"/>
              </a:defRPr>
            </a:pPr>
            <a:r>
              <a:t>No syntax errors appear in the terminal.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240" y="5010912"/>
            <a:ext cx="292608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2200" b="1">
                <a:solidFill>
                  <a:srgbClr val="305D9C"/>
                </a:solidFill>
                <a:latin typeface="Aptos"/>
              </a:defRPr>
            </a:pPr>
            <a:r>
              <a:t>•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15568" y="5001768"/>
            <a:ext cx="10241280" cy="384048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1700" b="0">
                <a:solidFill>
                  <a:srgbClr val="23272F"/>
                </a:solidFill>
                <a:latin typeface="Aptos"/>
              </a:defRPr>
            </a:pPr>
            <a:r>
              <a:t>The requested feature responds to the input.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7240" y="5650992"/>
            <a:ext cx="292608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2200" b="1">
                <a:solidFill>
                  <a:srgbClr val="305D9C"/>
                </a:solidFill>
                <a:latin typeface="Aptos"/>
              </a:defRPr>
            </a:pPr>
            <a:r>
              <a:t>•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15568" y="5641848"/>
            <a:ext cx="10241280" cy="384048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1700" b="0">
                <a:solidFill>
                  <a:srgbClr val="23272F"/>
                </a:solidFill>
                <a:latin typeface="Aptos"/>
              </a:defRPr>
            </a:pPr>
            <a:r>
              <a:t>The displayed / returned value matches the operation.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274320"/>
            <a:ext cx="10927080" cy="621792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defRPr sz="2700" b="1">
                <a:solidFill>
                  <a:srgbClr val="1B2B4B"/>
                </a:solidFill>
                <a:latin typeface="Aptos"/>
              </a:defRPr>
            </a:pPr>
            <a:r>
              <a:t>Viva preparation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950976"/>
            <a:ext cx="1143000" cy="54864"/>
          </a:xfrm>
          <a:prstGeom prst="rect">
            <a:avLst/>
          </a:prstGeom>
          <a:solidFill>
            <a:srgbClr val="305D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417320"/>
            <a:ext cx="292608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2200" b="1">
                <a:solidFill>
                  <a:srgbClr val="305D9C"/>
                </a:solidFill>
                <a:latin typeface="Aptos"/>
              </a:defRPr>
            </a:pPr>
            <a:r>
              <a:t>•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" y="1408176"/>
            <a:ext cx="10241280" cy="384048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1800" b="0">
                <a:solidFill>
                  <a:srgbClr val="23272F"/>
                </a:solidFill>
                <a:latin typeface="Aptos"/>
              </a:defRPr>
            </a:pPr>
            <a:r>
              <a:t>What is the purpose of this experiment?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2057400"/>
            <a:ext cx="292608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2200" b="1">
                <a:solidFill>
                  <a:srgbClr val="305D9C"/>
                </a:solidFill>
                <a:latin typeface="Aptos"/>
              </a:defRPr>
            </a:pPr>
            <a:r>
              <a:t>•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5568" y="2048256"/>
            <a:ext cx="10241280" cy="384048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1800" b="0">
                <a:solidFill>
                  <a:srgbClr val="23272F"/>
                </a:solidFill>
                <a:latin typeface="Aptos"/>
              </a:defRPr>
            </a:pPr>
            <a:r>
              <a:t>Which input is required?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697480"/>
            <a:ext cx="292608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2200" b="1">
                <a:solidFill>
                  <a:srgbClr val="305D9C"/>
                </a:solidFill>
                <a:latin typeface="Aptos"/>
              </a:defRPr>
            </a:pPr>
            <a:r>
              <a:t>•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5568" y="2688336"/>
            <a:ext cx="10241280" cy="384048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1800" b="0">
                <a:solidFill>
                  <a:srgbClr val="23272F"/>
                </a:solidFill>
                <a:latin typeface="Aptos"/>
              </a:defRPr>
            </a:pPr>
            <a:r>
              <a:t>Which line or command performs the main operation?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3337560"/>
            <a:ext cx="292608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2200" b="1">
                <a:solidFill>
                  <a:srgbClr val="305D9C"/>
                </a:solidFill>
                <a:latin typeface="Aptos"/>
              </a:defRPr>
            </a:pPr>
            <a:r>
              <a:t>•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15568" y="3328416"/>
            <a:ext cx="10241280" cy="384048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1800" b="0">
                <a:solidFill>
                  <a:srgbClr val="23272F"/>
                </a:solidFill>
                <a:latin typeface="Aptos"/>
              </a:defRPr>
            </a:pPr>
            <a:r>
              <a:t>What output should you observe?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3977640"/>
            <a:ext cx="292608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2200" b="1">
                <a:solidFill>
                  <a:srgbClr val="305D9C"/>
                </a:solidFill>
                <a:latin typeface="Aptos"/>
              </a:defRPr>
            </a:pPr>
            <a:r>
              <a:t>•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15568" y="3968496"/>
            <a:ext cx="10241280" cy="384048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1800" b="0">
                <a:solidFill>
                  <a:srgbClr val="23272F"/>
                </a:solidFill>
                <a:latin typeface="Aptos"/>
              </a:defRPr>
            </a:pPr>
            <a:r>
              <a:t>What happens when the input changes?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